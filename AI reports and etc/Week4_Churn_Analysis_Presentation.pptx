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18288000" cy="10287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yucpCUqJ1V+M+W0i/HWrqVbXd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0358438" y="0"/>
            <a:ext cx="7924800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/>
          <p:nvPr>
            <p:ph idx="2" type="sldImg"/>
          </p:nvPr>
        </p:nvSpPr>
        <p:spPr>
          <a:xfrm>
            <a:off x="6057900" y="1285875"/>
            <a:ext cx="6172200" cy="3471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2112620" y="1061481"/>
            <a:ext cx="1406275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0">
                <a:solidFill>
                  <a:srgbClr val="333C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2365135" y="2132198"/>
            <a:ext cx="13940155" cy="694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2112620" y="1061481"/>
            <a:ext cx="1406275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0">
                <a:solidFill>
                  <a:srgbClr val="333C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2112620" y="1061481"/>
            <a:ext cx="1406275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0">
                <a:solidFill>
                  <a:srgbClr val="333C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426348" y="7438892"/>
            <a:ext cx="2857499" cy="28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5" y="4011"/>
            <a:ext cx="2853481" cy="284395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6"/>
          <p:cNvSpPr txBox="1"/>
          <p:nvPr>
            <p:ph type="title"/>
          </p:nvPr>
        </p:nvSpPr>
        <p:spPr>
          <a:xfrm>
            <a:off x="2112620" y="1061481"/>
            <a:ext cx="14062758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0" u="none" cap="none" strike="noStrike">
                <a:solidFill>
                  <a:srgbClr val="333C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2365135" y="2132198"/>
            <a:ext cx="13940155" cy="6947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0"/>
            <a:ext cx="3922395" cy="172746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7198994" y="5844417"/>
            <a:ext cx="3890010" cy="822020"/>
          </a:xfrm>
          <a:prstGeom prst="rect">
            <a:avLst/>
          </a:prstGeom>
          <a:solidFill>
            <a:srgbClr val="002F49"/>
          </a:solidFill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22415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AI-Powered</a:t>
            </a:r>
            <a:endParaRPr b="0" i="0" sz="4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" name="Google Shape;51;p1"/>
          <p:cNvSpPr txBox="1"/>
          <p:nvPr>
            <p:ph idx="1" type="body"/>
          </p:nvPr>
        </p:nvSpPr>
        <p:spPr>
          <a:xfrm>
            <a:off x="2173922" y="1641398"/>
            <a:ext cx="13940155" cy="38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475">
            <a:spAutoFit/>
          </a:bodyPr>
          <a:lstStyle/>
          <a:p>
            <a:pPr indent="2790190" lvl="0" marL="1135380" marR="5080" rtl="0" algn="l">
              <a:lnSpc>
                <a:spcPct val="7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00">
                <a:solidFill>
                  <a:srgbClr val="333C50"/>
                </a:solidFill>
                <a:latin typeface="Arial Black"/>
                <a:ea typeface="Arial Black"/>
                <a:cs typeface="Arial Black"/>
                <a:sym typeface="Arial Black"/>
              </a:rPr>
              <a:t>Student  Engagement and  Churn Prediction</a:t>
            </a:r>
            <a:endParaRPr b="1" sz="87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805077" y="9056457"/>
            <a:ext cx="4333445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2F49"/>
                </a:solidFill>
                <a:latin typeface="Arial Black"/>
                <a:ea typeface="Arial Black"/>
                <a:cs typeface="Arial Black"/>
                <a:sym typeface="Arial Black"/>
              </a:rPr>
              <a:t>8th September, 2025</a:t>
            </a:r>
            <a:endParaRPr b="0" i="0" sz="2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91760" y="6986057"/>
            <a:ext cx="155044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Team Members: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Hammad Mengrani, Kareem Mamdouh, Laiba Jawaid, Priyanka Kute, Reeba Joshi, Rifat Islam, Sumaya Mateen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2933700" y="662675"/>
            <a:ext cx="12420600" cy="124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4038600" y="2534452"/>
            <a:ext cx="8563610" cy="5061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-571500" lvl="0" marL="583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Introduction &amp; Business Problem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Dataset Overview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Data Preprocessing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Exploratory Data Analysis (EDA)</a:t>
            </a:r>
            <a:endParaRPr sz="2400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Churn Analysis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Model Building</a:t>
            </a:r>
            <a:endParaRPr sz="2400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Model Comparison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4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Summary of Strategic Value</a:t>
            </a:r>
            <a:endParaRPr/>
          </a:p>
          <a:p>
            <a:pPr indent="-571500" lvl="0" marL="583564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Churn Factors &amp; Recommendations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Limitations &amp; Future Work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571500" lvl="0" marL="583565" marR="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A536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Conclusion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idx="1" type="body"/>
          </p:nvPr>
        </p:nvSpPr>
        <p:spPr>
          <a:xfrm>
            <a:off x="1447156" y="3443050"/>
            <a:ext cx="9297000" cy="6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/>
              <a:t>Strong Initial Enthusiasm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Students enroll with high motivation to gain skills and career growth.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Start with strong expectations, ambition, and promise of opportunities</a:t>
            </a:r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.</a:t>
            </a:r>
            <a:endParaRPr sz="2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/>
              <a:t>Unexpected Dropouts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31.8% of students withdraw silently without warning signals.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No clear indicators → difficult to predict or intervene.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Dropouts driven by multiple factors (personal, academic, platform-related).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Leads to loss of potential and wasted platform resources.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/>
              <a:t>Core Problem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High enrollments, but low course completions.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Urgent need for predictive solutions to detect risks early and reduce churn.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1478" y="2781300"/>
            <a:ext cx="5286522" cy="7505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2202600" y="305688"/>
            <a:ext cx="153936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>
                <a:solidFill>
                  <a:srgbClr val="333C50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&amp; problem 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4193214" y="451950"/>
            <a:ext cx="99015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Dataset Overview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2087796" y="5153891"/>
            <a:ext cx="14600422" cy="2437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800">
            <a:spAutoFit/>
          </a:bodyPr>
          <a:lstStyle/>
          <a:p>
            <a:pPr indent="-457200" lvl="1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Scale: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8,558 learner applications</a:t>
            </a:r>
            <a:endParaRPr/>
          </a:p>
          <a:p>
            <a:pPr indent="-457200" lvl="1" marL="927100" marR="0" rtl="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Coverage: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70 countries, grouped into 5 regions, 23 programs </a:t>
            </a:r>
            <a:endParaRPr/>
          </a:p>
          <a:p>
            <a:pPr indent="-457200" lvl="1" marL="927100" marR="271780" rtl="0" algn="l">
              <a:lnSpc>
                <a:spcPct val="140600"/>
              </a:lnSpc>
              <a:spcBef>
                <a:spcPts val="174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Success Rate: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47.6% overall with significant demographic variations</a:t>
            </a:r>
            <a:endParaRPr/>
          </a:p>
          <a:p>
            <a:pPr indent="-457200" lvl="1" marL="927100" marR="5080" rtl="0" algn="l">
              <a:lnSpc>
                <a:spcPct val="140600"/>
              </a:lnSpc>
              <a:spcBef>
                <a:spcPts val="174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Key Insight: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Peak activity was in August 2023 with 946 signups</a:t>
            </a:r>
            <a:endParaRPr/>
          </a:p>
        </p:txBody>
      </p:sp>
      <p:grpSp>
        <p:nvGrpSpPr>
          <p:cNvPr id="74" name="Google Shape;74;p4"/>
          <p:cNvGrpSpPr/>
          <p:nvPr/>
        </p:nvGrpSpPr>
        <p:grpSpPr>
          <a:xfrm>
            <a:off x="1401577" y="2726631"/>
            <a:ext cx="15484845" cy="1568013"/>
            <a:chOff x="1295400" y="3322270"/>
            <a:chExt cx="15484845" cy="1568013"/>
          </a:xfrm>
        </p:grpSpPr>
        <p:sp>
          <p:nvSpPr>
            <p:cNvPr id="75" name="Google Shape;75;p4"/>
            <p:cNvSpPr/>
            <p:nvPr/>
          </p:nvSpPr>
          <p:spPr>
            <a:xfrm>
              <a:off x="1295400" y="3322272"/>
              <a:ext cx="3505200" cy="1568011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Total Records</a:t>
              </a:r>
              <a:br>
                <a:rPr b="1" lang="en-US" sz="30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1" lang="en-US" sz="3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8558</a:t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5288615" y="3322272"/>
              <a:ext cx="3505200" cy="1568011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Total Countries</a:t>
              </a:r>
              <a:br>
                <a:rPr b="1" lang="en-US" sz="30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1" lang="en-US" sz="3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70</a:t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9281830" y="3322271"/>
              <a:ext cx="3505200" cy="1568011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Success Rate</a:t>
              </a:r>
              <a:br>
                <a:rPr b="1" lang="en-US" sz="30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1" lang="en-US" sz="3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47.6%</a:t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13275045" y="3322270"/>
              <a:ext cx="3505200" cy="1568011"/>
            </a:xfrm>
            <a:prstGeom prst="roundRect">
              <a:avLst>
                <a:gd fmla="val 16667" name="adj"/>
              </a:avLst>
            </a:prstGeom>
            <a:noFill/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Peak Signups</a:t>
              </a:r>
              <a:br>
                <a:rPr b="1" lang="en-US" sz="3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b="1" lang="en-US" sz="3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946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684270" y="631520"/>
            <a:ext cx="10919460" cy="124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Data Preprocessing</a:t>
            </a:r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1673446" y="3768323"/>
            <a:ext cx="14941106" cy="4597262"/>
            <a:chOff x="6571" y="377423"/>
            <a:chExt cx="14941106" cy="4597262"/>
          </a:xfrm>
        </p:grpSpPr>
        <p:sp>
          <p:nvSpPr>
            <p:cNvPr id="85" name="Google Shape;85;p5"/>
            <p:cNvSpPr/>
            <p:nvPr/>
          </p:nvSpPr>
          <p:spPr>
            <a:xfrm>
              <a:off x="6571" y="377423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57064" y="427916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Convert Data Types</a:t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3132710" y="883122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 txBox="1"/>
            <p:nvPr/>
          </p:nvSpPr>
          <p:spPr>
            <a:xfrm>
              <a:off x="3132710" y="1025637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29177" y="377423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 txBox="1"/>
            <p:nvPr/>
          </p:nvSpPr>
          <p:spPr>
            <a:xfrm>
              <a:off x="4079670" y="427916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Standardize Text</a:t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7155316" y="883122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7CCE4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 txBox="1"/>
            <p:nvPr/>
          </p:nvSpPr>
          <p:spPr>
            <a:xfrm>
              <a:off x="7155316" y="1025637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8051782" y="377423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 txBox="1"/>
            <p:nvPr/>
          </p:nvSpPr>
          <p:spPr>
            <a:xfrm>
              <a:off x="8102275" y="427916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Map Inconsistent Values</a:t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1177922" y="883122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 txBox="1"/>
            <p:nvPr/>
          </p:nvSpPr>
          <p:spPr>
            <a:xfrm>
              <a:off x="11177922" y="1025637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2074388" y="377423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 txBox="1"/>
            <p:nvPr/>
          </p:nvSpPr>
          <p:spPr>
            <a:xfrm>
              <a:off x="12124881" y="427916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Check Duplicates </a:t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 rot="5400000">
              <a:off x="13206464" y="2302527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 txBox="1"/>
            <p:nvPr/>
          </p:nvSpPr>
          <p:spPr>
            <a:xfrm>
              <a:off x="13297261" y="2354246"/>
              <a:ext cx="427545" cy="426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2074388" y="3250712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 txBox="1"/>
            <p:nvPr/>
          </p:nvSpPr>
          <p:spPr>
            <a:xfrm>
              <a:off x="12124881" y="3301205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Missing Values Imputations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 rot="10800000">
              <a:off x="11212401" y="3756411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93B3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 txBox="1"/>
            <p:nvPr/>
          </p:nvSpPr>
          <p:spPr>
            <a:xfrm>
              <a:off x="11395142" y="3898926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8051782" y="3250712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8102275" y="3301205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First Name → "Not Specified"</a:t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 rot="10800000">
              <a:off x="7189796" y="3756411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 txBox="1"/>
            <p:nvPr/>
          </p:nvSpPr>
          <p:spPr>
            <a:xfrm>
              <a:off x="7372537" y="3898926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4029177" y="3250712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 txBox="1"/>
            <p:nvPr/>
          </p:nvSpPr>
          <p:spPr>
            <a:xfrm>
              <a:off x="4079670" y="3301205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Institution &amp; Major → Group Imputation</a:t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 rot="10800000">
              <a:off x="3167190" y="3756411"/>
              <a:ext cx="609137" cy="71257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3349931" y="3898926"/>
              <a:ext cx="426396" cy="42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t/>
              </a:r>
              <a:endParaRPr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571" y="3250712"/>
              <a:ext cx="2873289" cy="1723973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57064" y="3301205"/>
              <a:ext cx="2772303" cy="1622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Opportunity Start Date → Mode (grouped</a:t>
              </a:r>
              <a:r>
                <a:rPr lang="en-U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  <p:sp>
        <p:nvSpPr>
          <p:cNvPr id="115" name="Google Shape;115;p5"/>
          <p:cNvSpPr txBox="1"/>
          <p:nvPr/>
        </p:nvSpPr>
        <p:spPr>
          <a:xfrm>
            <a:off x="2514600" y="2635977"/>
            <a:ext cx="41338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Data Cleaning:</a:t>
            </a:r>
            <a:endParaRPr b="1"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3684270" y="571500"/>
            <a:ext cx="10919460" cy="124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Data Preprocessing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2438400" y="2457784"/>
            <a:ext cx="54292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69900" marR="0" rtl="0" algn="l"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Feature Engineering:</a:t>
            </a:r>
            <a:endParaRPr b="1"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3" name="Google Shape;123;p6"/>
          <p:cNvGrpSpPr/>
          <p:nvPr/>
        </p:nvGrpSpPr>
        <p:grpSpPr>
          <a:xfrm>
            <a:off x="465803" y="3524899"/>
            <a:ext cx="17356392" cy="4527672"/>
            <a:chOff x="4793" y="513117"/>
            <a:chExt cx="17356392" cy="4527672"/>
          </a:xfrm>
        </p:grpSpPr>
        <p:sp>
          <p:nvSpPr>
            <p:cNvPr id="124" name="Google Shape;124;p6"/>
            <p:cNvSpPr/>
            <p:nvPr/>
          </p:nvSpPr>
          <p:spPr>
            <a:xfrm>
              <a:off x="4793" y="513117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42288" y="550612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Temporal Features: 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 rot="5400000">
              <a:off x="1882287" y="1879177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4793" y="2136872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 txBox="1"/>
            <p:nvPr/>
          </p:nvSpPr>
          <p:spPr>
            <a:xfrm>
              <a:off x="42288" y="2174367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Capture time-based patterns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 rot="5400000">
              <a:off x="1882287" y="3502932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4793" y="3760628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42288" y="3798123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Like: Quick_Applicant,  Signup_to_Apply_Days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4481329" y="513117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4518824" y="550612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Courier New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Demographic Features: 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 rot="5400000">
              <a:off x="6358823" y="1879177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4481329" y="2136872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4518824" y="2174367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Classify Learners by background</a:t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 rot="5400000">
              <a:off x="6358823" y="3502932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4481329" y="3760628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89803"/>
              </a:srgb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4518824" y="3798123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Like: Age_Group, Region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8957865" y="513117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8995360" y="550612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Behavioral Features: 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 rot="5400000">
              <a:off x="10835359" y="1879177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8957865" y="2136872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8995360" y="2174367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Reflect learner activity &amp; success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 rot="5400000">
              <a:off x="10835359" y="3502932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8957865" y="3760628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8995360" y="3798123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Like: Engagement_Score, Opportunity_Popularity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13434400" y="513117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13471895" y="550612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Composite Features: 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 rot="5400000">
              <a:off x="15311895" y="1879177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93B3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13434400" y="2136872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13471895" y="2174367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Combine multiple attributes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 rot="5400000">
              <a:off x="15311895" y="3502932"/>
              <a:ext cx="171796" cy="171796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93B3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13434400" y="3760628"/>
              <a:ext cx="3926785" cy="1280161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13471895" y="3798123"/>
              <a:ext cx="3851795" cy="1205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Like: Age_Major_Combo, Country_Gender</a:t>
              </a:r>
              <a:endParaRPr b="1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5" y="4011"/>
            <a:ext cx="2853481" cy="284395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>
            <p:ph type="title"/>
          </p:nvPr>
        </p:nvSpPr>
        <p:spPr>
          <a:xfrm>
            <a:off x="2438049" y="764050"/>
            <a:ext cx="15845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Exploratory Data Analysis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26348" y="7438892"/>
            <a:ext cx="2857499" cy="284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7"/>
          <p:cNvGrpSpPr/>
          <p:nvPr/>
        </p:nvGrpSpPr>
        <p:grpSpPr>
          <a:xfrm>
            <a:off x="1937796" y="3408614"/>
            <a:ext cx="14412406" cy="4064474"/>
            <a:chOff x="2316" y="830029"/>
            <a:chExt cx="14412406" cy="4064474"/>
          </a:xfrm>
        </p:grpSpPr>
        <p:sp>
          <p:nvSpPr>
            <p:cNvPr id="164" name="Google Shape;164;p7"/>
            <p:cNvSpPr/>
            <p:nvPr/>
          </p:nvSpPr>
          <p:spPr>
            <a:xfrm>
              <a:off x="2316" y="830029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 txBox="1"/>
            <p:nvPr/>
          </p:nvSpPr>
          <p:spPr>
            <a:xfrm>
              <a:off x="34490" y="862203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Verdana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Data Quality</a:t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 rot="5400000">
              <a:off x="2103210" y="2024655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2316" y="2313013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 txBox="1"/>
            <p:nvPr/>
          </p:nvSpPr>
          <p:spPr>
            <a:xfrm>
              <a:off x="34490" y="2345187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Validate Structure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 rot="5400000">
              <a:off x="2103210" y="3507639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2316" y="3795997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34490" y="3828171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Handle missing &amp; duplicate</a:t>
              </a:r>
              <a:endParaRPr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011506" y="830029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5043680" y="862203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Courier New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Descriptive Analysis</a:t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 rot="5400000">
              <a:off x="7112400" y="2024655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5011506" y="2313013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 txBox="1"/>
            <p:nvPr/>
          </p:nvSpPr>
          <p:spPr>
            <a:xfrm>
              <a:off x="5043680" y="2345187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Numerical stats</a:t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 rot="5400000">
              <a:off x="7112400" y="3507639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5011506" y="3795997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rgbClr val="FFFFFF">
                <a:alpha val="89803"/>
              </a:srgb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5043680" y="3828171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2200"/>
                <a:buFont typeface="Courier New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Categorical distributions</a:t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10020696" y="830029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10052870" y="862203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b="1"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Visualization &amp; Insights</a:t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 rot="5400000">
              <a:off x="12121590" y="2024655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0020696" y="2313013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10052870" y="2345187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Plot trends &amp; correlation</a:t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 rot="5400000">
              <a:off x="12121590" y="3507639"/>
              <a:ext cx="192238" cy="192238"/>
            </a:xfrm>
            <a:prstGeom prst="rightArrow">
              <a:avLst>
                <a:gd fmla="val 66700" name="adj1"/>
                <a:gd fmla="val 50000" name="adj2"/>
              </a:avLst>
            </a:prstGeom>
            <a:solidFill>
              <a:srgbClr val="B1C0D7"/>
            </a:solidFill>
            <a:ln cap="flat" cmpd="sng" w="9525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0020696" y="3795997"/>
              <a:ext cx="4394026" cy="109850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10052870" y="3828171"/>
              <a:ext cx="4329678" cy="1034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925" lIns="27925" spcFirstLastPara="1" rIns="27925" wrap="square" tIns="27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369"/>
                </a:buClr>
                <a:buSzPts val="1000"/>
                <a:buFont typeface="Noto Sans Symbols"/>
                <a:buNone/>
              </a:pPr>
              <a:r>
                <a:rPr lang="en-US" sz="2200">
                  <a:solidFill>
                    <a:srgbClr val="4A5369"/>
                  </a:solidFill>
                  <a:latin typeface="Verdana"/>
                  <a:ea typeface="Verdana"/>
                  <a:cs typeface="Verdana"/>
                  <a:sym typeface="Verdana"/>
                </a:rPr>
                <a:t>Extract key insights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5" y="4011"/>
            <a:ext cx="2853481" cy="284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879" y="2499304"/>
            <a:ext cx="3886194" cy="388601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>
            <p:ph type="title"/>
          </p:nvPr>
        </p:nvSpPr>
        <p:spPr>
          <a:xfrm>
            <a:off x="3072184" y="494587"/>
            <a:ext cx="13276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Demographic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 Insights</a:t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26348" y="7438892"/>
            <a:ext cx="2857499" cy="28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4057" y="6573413"/>
            <a:ext cx="10053622" cy="3455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4317" y="2494255"/>
            <a:ext cx="7895115" cy="38860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 txBox="1"/>
          <p:nvPr/>
        </p:nvSpPr>
        <p:spPr>
          <a:xfrm>
            <a:off x="253623" y="7347197"/>
            <a:ext cx="3051099" cy="169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Insight: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The majority of users are male, making up over half of the total user base. 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3970680" y="6795764"/>
            <a:ext cx="302192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Insight: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Enrollment is heavily concentrated in the United States and India, indicating strong market presence.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6106390" y="3546986"/>
            <a:ext cx="4197927" cy="178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Insight: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5080" rtl="0" algn="l">
              <a:lnSpc>
                <a:spcPct val="115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Young Adults dominate (56.7%); Teens and Seniors are underserved (&lt;10%), offering key growth potential.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114700" y="4457626"/>
            <a:ext cx="676500" cy="2106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221901" y="8258346"/>
            <a:ext cx="676500" cy="2106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 rot="5400000">
            <a:off x="15472032" y="6505557"/>
            <a:ext cx="599400" cy="224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59946" r="0" t="0"/>
          <a:stretch/>
        </p:blipFill>
        <p:spPr>
          <a:xfrm>
            <a:off x="9677400" y="2459182"/>
            <a:ext cx="6116137" cy="6397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>
            <p:ph type="title"/>
          </p:nvPr>
        </p:nvSpPr>
        <p:spPr>
          <a:xfrm>
            <a:off x="2438400" y="640300"/>
            <a:ext cx="158496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Engagement Distribution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1447800" y="3004132"/>
            <a:ext cx="6477000" cy="310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8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Engagement Metrics:</a:t>
            </a:r>
            <a:endParaRPr b="1"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Average Engagement  Score: 0.47 </a:t>
            </a:r>
            <a:endParaRPr sz="2200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Engagement Level  Distribution: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1" marL="927100" marR="0" rtl="0" algn="l">
              <a:spcBef>
                <a:spcPts val="1405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High: 3,835 (44.8%)</a:t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1" marL="927100" marR="0" rtl="0" algn="l">
              <a:spcBef>
                <a:spcPts val="1405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Low: 2,472 (28.9%)</a:t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1" marL="927100" marR="0" rtl="0" algn="l">
              <a:spcBef>
                <a:spcPts val="1405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Medium: 2,251 (26.3%)</a:t>
            </a:r>
            <a:endParaRPr b="0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447800" y="7233229"/>
            <a:ext cx="8534400" cy="2016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Insights:</a:t>
            </a:r>
            <a:endParaRPr/>
          </a:p>
          <a:p>
            <a:pPr indent="-342900" lvl="0" marL="3556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Retained learners have significantly higher engagement scores.  </a:t>
            </a:r>
            <a:endParaRPr/>
          </a:p>
          <a:p>
            <a:pPr indent="-342900" lvl="0" marL="3556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Churned users apply more, but have a lower success rate.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/>
          <p:nvPr>
            <p:ph type="title"/>
          </p:nvPr>
        </p:nvSpPr>
        <p:spPr>
          <a:xfrm>
            <a:off x="4982852" y="429200"/>
            <a:ext cx="115074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Churn Analysis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544697" y="1714704"/>
            <a:ext cx="8322308" cy="7385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225">
            <a:spAutoFit/>
          </a:bodyPr>
          <a:lstStyle/>
          <a:p>
            <a:pPr indent="0" lvl="2" marL="9271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Understanding &amp; Defining Churn:</a:t>
            </a:r>
            <a:endParaRPr/>
          </a:p>
          <a:p>
            <a:pPr indent="-342900" lvl="2" marL="12700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Challenge: Multiple churn definitions (status codes, behaviors, demographics)</a:t>
            </a:r>
            <a:endParaRPr/>
          </a:p>
          <a:p>
            <a:pPr indent="-342900" lvl="2" marL="12700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Approach: Rule-based clustering with Kmeans</a:t>
            </a:r>
            <a:endParaRPr b="0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2" marL="12700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Key Features for Thresholds: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Engagement_Score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Applications_per_User</a:t>
            </a:r>
            <a:endParaRPr b="0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User_Success_Rate</a:t>
            </a:r>
            <a:endParaRPr b="0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Apply_vs_Start_Gap</a:t>
            </a:r>
            <a:endParaRPr b="0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2" marL="12700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Churn Rules:    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Low/no engagement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Many unsuccessful attempts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Dropped before course start</a:t>
            </a:r>
            <a:endParaRPr/>
          </a:p>
          <a:p>
            <a:pPr indent="-342900" lvl="4" marL="21844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Very low success despite many applications</a:t>
            </a:r>
            <a:endParaRPr/>
          </a:p>
        </p:txBody>
      </p:sp>
      <p:pic>
        <p:nvPicPr>
          <p:cNvPr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5690" y="2400346"/>
            <a:ext cx="8322309" cy="370721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 txBox="1"/>
          <p:nvPr/>
        </p:nvSpPr>
        <p:spPr>
          <a:xfrm>
            <a:off x="152400" y="9029700"/>
            <a:ext cx="1046359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Nearly one-third (31.8%) of users have churned, indicating a significant challenge with user retention that requires immediate attention.</a:t>
            </a:r>
            <a:endParaRPr/>
          </a:p>
        </p:txBody>
      </p:sp>
      <p:pic>
        <p:nvPicPr>
          <p:cNvPr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9400" y="6590998"/>
            <a:ext cx="7848599" cy="36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/>
          <p:nvPr>
            <p:ph type="title"/>
          </p:nvPr>
        </p:nvSpPr>
        <p:spPr>
          <a:xfrm>
            <a:off x="2112601" y="219498"/>
            <a:ext cx="161754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5250">
            <a:spAutoFit/>
          </a:bodyPr>
          <a:lstStyle/>
          <a:p>
            <a:pPr indent="-3810634" lvl="0" marL="420116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Model Building for Churn  Prediction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464127" y="2851727"/>
            <a:ext cx="7541632" cy="55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0800">
            <a:spAutoFit/>
          </a:bodyPr>
          <a:lstStyle/>
          <a:p>
            <a:pPr indent="-457200" lvl="1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Feature Selection to Avoid Leakage: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Correlation analysis for churn-related features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Removed status-based features (status_code, status_description)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Checking Circular dependency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Retained features providing predictive value without leakage</a:t>
            </a:r>
            <a:endParaRPr/>
          </a:p>
          <a:p>
            <a:pPr indent="-457200" lvl="1" marL="9271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Models Tested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: Logistic Regression, SVM, Random Forest, Gradient Boosting, XGBoost</a:t>
            </a:r>
            <a:endParaRPr/>
          </a:p>
          <a:p>
            <a:pPr indent="-457200" lvl="1" marL="9271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Final Model: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Gradient Boosting Classifier and gives 91% accuracy, 0.86 F1-score</a:t>
            </a:r>
            <a:endParaRPr/>
          </a:p>
        </p:txBody>
      </p:sp>
      <p:pic>
        <p:nvPicPr>
          <p:cNvPr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832" y="2849418"/>
            <a:ext cx="10289168" cy="74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5690" r="1" t="0"/>
          <a:stretch/>
        </p:blipFill>
        <p:spPr>
          <a:xfrm>
            <a:off x="1219200" y="1828142"/>
            <a:ext cx="7577736" cy="413464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>
            <p:ph type="title"/>
          </p:nvPr>
        </p:nvSpPr>
        <p:spPr>
          <a:xfrm>
            <a:off x="3994785" y="451044"/>
            <a:ext cx="10298430" cy="124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Model Comparison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1734657" y="4868237"/>
            <a:ext cx="296545" cy="2067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sz="3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sz="3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37" name="Google Shape;2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99" y="1828142"/>
            <a:ext cx="7409343" cy="401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9599" y="5981700"/>
            <a:ext cx="9494337" cy="426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/>
          <p:nvPr/>
        </p:nvSpPr>
        <p:spPr>
          <a:xfrm>
            <a:off x="762000" y="6591300"/>
            <a:ext cx="5416426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333C50"/>
                </a:solidFill>
                <a:latin typeface="Arial Black"/>
                <a:ea typeface="Arial Black"/>
                <a:cs typeface="Arial Black"/>
                <a:sym typeface="Arial Black"/>
              </a:rPr>
              <a:t>Churn Factors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 txBox="1"/>
          <p:nvPr>
            <p:ph type="title"/>
          </p:nvPr>
        </p:nvSpPr>
        <p:spPr>
          <a:xfrm>
            <a:off x="1513510" y="-9"/>
            <a:ext cx="152610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7475">
            <a:spAutoFit/>
          </a:bodyPr>
          <a:lstStyle/>
          <a:p>
            <a:pPr indent="-3386453" lvl="0" marL="4861560" marR="5080" rtl="0" algn="l">
              <a:lnSpc>
                <a:spcPct val="10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Churn Factors &amp; Recommendations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914400" y="2446894"/>
            <a:ext cx="1676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20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Delayed First Application = Early Dropout Risk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Automate a multi-email onboarding sequence with a video tour and personalized opportunity suggestions to drive immediate action.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Long Course Duration = Higher Overwhelm &amp; Churn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Restructure long courses into weekly modules, each with a micro-certificate, to prevent learner overwhelm.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Low Regional Application Rate = Localized Disengagement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Develop region-specific content and community hubs to increase local relevance and engagement.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Chasing Popular Opportunities = Mismatch-Driven Churn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Enhance the recommendation algorithm with collaborative filtering to surface trending and peer-approved opportunities.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Instant Applications = Rushed Decisions, Higher Regret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Improve early onboarding to ensure users understand the platform before applying.</a:t>
            </a:r>
            <a:endParaRPr/>
          </a:p>
          <a:p>
            <a:pPr indent="-457200" lvl="0" marL="4699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Late Applications = Indecision Signals, Likely Churn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Strategy: </a:t>
            </a:r>
            <a:r>
              <a:rPr lang="en-US" sz="2200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Use AI-driven prompts to re-engage users who show signs of indecision early in their journey.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/>
          <p:nvPr>
            <p:ph type="title"/>
          </p:nvPr>
        </p:nvSpPr>
        <p:spPr>
          <a:xfrm>
            <a:off x="2438400" y="794670"/>
            <a:ext cx="15449868" cy="128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0">
            <a:spAutoFit/>
          </a:bodyPr>
          <a:lstStyle/>
          <a:p>
            <a:pPr indent="-4769485" lvl="0" marL="4781550" marR="508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Limitations &amp; Future Plans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381000" y="2212065"/>
            <a:ext cx="17006452" cy="3120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1" marL="9271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Current Gaps: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Missing socioeconomic data, Motivation factors, European representation</a:t>
            </a:r>
            <a:endParaRPr/>
          </a:p>
          <a:p>
            <a:pPr indent="-457200" lvl="1" marL="9271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Future Plans:</a:t>
            </a:r>
            <a:endParaRPr b="1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Deep learning models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Real-time analytics  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A/B testing</a:t>
            </a:r>
            <a:endParaRPr/>
          </a:p>
          <a:p>
            <a:pPr indent="-457200" lvl="2" marL="1384300" marR="0" rtl="0" algn="l"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Social network analysis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374073" y="6183071"/>
            <a:ext cx="15544800" cy="3783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1" marL="9271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Identified Core Problem: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Mostly churn rate driven by application delays, course length, and engagement gaps</a:t>
            </a: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457200" lvl="1" marL="927100" marR="5080" rtl="0" algn="l">
              <a:lnSpc>
                <a:spcPct val="115199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Built Predictive Solution: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Gradient Boosting model achieves 91% accuracy in forecasting student churn.</a:t>
            </a:r>
            <a:endParaRPr b="1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1" marL="927100" marR="5080" rtl="0" algn="l">
              <a:lnSpc>
                <a:spcPct val="115199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Delivered Actionable Strategies: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Personalized interventions, adaptive content, and targeted campaigns to boost retention.</a:t>
            </a:r>
            <a:endParaRPr b="1" i="0" sz="2200" u="none" cap="none" strike="noStrike">
              <a:solidFill>
                <a:srgbClr val="4A536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1" marL="927100" marR="5080" rtl="0" algn="l">
              <a:lnSpc>
                <a:spcPct val="115199"/>
              </a:lnSpc>
              <a:spcBef>
                <a:spcPts val="1600"/>
              </a:spcBef>
              <a:spcAft>
                <a:spcPts val="0"/>
              </a:spcAft>
              <a:buClr>
                <a:srgbClr val="4A5369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Enabled Proactive Approach: </a:t>
            </a:r>
            <a:r>
              <a:rPr b="0" i="0" lang="en-US" sz="2200" u="none" cap="none" strike="noStrike">
                <a:solidFill>
                  <a:srgbClr val="4A5369"/>
                </a:solidFill>
                <a:latin typeface="Verdana"/>
                <a:ea typeface="Verdana"/>
                <a:cs typeface="Verdana"/>
                <a:sym typeface="Verdana"/>
              </a:rPr>
              <a:t>Shift from reactive support to data-driven, preemptive student success initiatives.</a:t>
            </a:r>
            <a:endParaRPr/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5600" y="4609915"/>
            <a:ext cx="7376799" cy="213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6348" y="7438892"/>
            <a:ext cx="2857499" cy="284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5" y="4011"/>
            <a:ext cx="2853481" cy="28439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5"/>
          <p:cNvSpPr txBox="1"/>
          <p:nvPr>
            <p:ph type="title"/>
          </p:nvPr>
        </p:nvSpPr>
        <p:spPr>
          <a:xfrm>
            <a:off x="3587392" y="3929782"/>
            <a:ext cx="11113135" cy="2190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50"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2025-09-05T18:38:05Z</dcterms:created>
  <dc:creator>Kareem Mamdouh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2025-09-05T00:00:00Z</vt:filetime>
  </property>
  <property fmtid="{D5CDD505-2E9C-101B-9397-08002B2CF9AE}" pid="3" name="Creator">
    <vt:lpwstr>Canva</vt:lpwstr>
  </property>
  <property fmtid="{D5CDD505-2E9C-101B-9397-08002B2CF9AE}" pid="4" name="LastSaved">
    <vt:filetime>2025-09-05T00:00:00Z</vt:filetime>
  </property>
</Properties>
</file>